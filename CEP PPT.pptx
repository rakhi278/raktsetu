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8" r:id="rId3"/>
    <p:sldId id="259" r:id="rId4"/>
    <p:sldId id="260" r:id="rId5"/>
    <p:sldId id="261" r:id="rId6"/>
    <p:sldId id="264" r:id="rId7"/>
    <p:sldId id="265" r:id="rId8"/>
    <p:sldId id="266" r:id="rId9"/>
    <p:sldId id="267" r:id="rId10"/>
    <p:sldId id="268" r:id="rId11"/>
    <p:sldId id="270" r:id="rId12"/>
    <p:sldId id="272" r:id="rId13"/>
    <p:sldId id="273" r:id="rId14"/>
    <p:sldId id="274" r:id="rId15"/>
    <p:sldId id="275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6" d="100"/>
          <a:sy n="126" d="100"/>
        </p:scale>
        <p:origin x="-202" y="-5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937"/>
                </a:solidFill>
                <a:latin typeface="Arial"/>
              </a:defRPr>
            </a:pPr>
            <a:r>
              <a:rPr lang="en-US" sz="1400" b="0" i="0" u="none" strike="noStrike">
                <a:solidFill>
                  <a:srgbClr val="1F2937"/>
                </a:solidFill>
                <a:latin typeface="Arial"/>
              </a:rPr>
              <a:t>Household food waste per person per year (kg), 2022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kg per person per year</c:v>
                </c:pt>
              </c:strCache>
            </c:strRef>
          </c:tx>
          <c:spPr>
            <a:solidFill>
              <a:srgbClr val="43A04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Philippines</c:v>
                </c:pt>
                <c:pt idx="1">
                  <c:v>Russia</c:v>
                </c:pt>
                <c:pt idx="2">
                  <c:v>India</c:v>
                </c:pt>
                <c:pt idx="3">
                  <c:v>USA</c:v>
                </c:pt>
                <c:pt idx="4">
                  <c:v>China</c:v>
                </c:pt>
                <c:pt idx="5">
                  <c:v>Nepal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26</c:v>
                </c:pt>
                <c:pt idx="1">
                  <c:v>33</c:v>
                </c:pt>
                <c:pt idx="2">
                  <c:v>55</c:v>
                </c:pt>
                <c:pt idx="3">
                  <c:v>73</c:v>
                </c:pt>
                <c:pt idx="4">
                  <c:v>76</c:v>
                </c:pt>
                <c:pt idx="5">
                  <c:v>93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81DA-403A-BA36-2F59654EA3D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3439616"/>
        <c:axId val="239350144"/>
      </c:barChart>
      <c:catAx>
        <c:axId val="4343961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39350144"/>
        <c:crosses val="autoZero"/>
        <c:auto val="1"/>
        <c:lblAlgn val="ctr"/>
        <c:lblOffset val="100"/>
        <c:noMultiLvlLbl val="1"/>
      </c:catAx>
      <c:valAx>
        <c:axId val="239350144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434396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73375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Food waste is a quiet problem. Most of it happens in our own kitchens, not in factories or restaurants.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Food loss happens in the early stages. Food waste happens at retail, in food service and in homes. The home kitchen is the largest single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higher the step, the better. Prevention is always better than recycling or disposal. Adapted from the US EPA Food Recovery Hierarchy.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questions you actually asked. Edit this list to match your own questionnaire.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Edit the four steps so they match what you actually did, then add photos.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54696" y="57346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ENGAGEMENT PROJECT (CEP)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Waste Reduction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</a:t>
            </a:r>
            <a:r>
              <a:rPr lang="en-US" sz="40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Households</a:t>
            </a:r>
          </a:p>
          <a:p>
            <a:pPr marL="0" indent="0">
              <a:buNone/>
            </a:pPr>
            <a:endParaRPr lang="en-US" sz="40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40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200" b="1" dirty="0" smtClean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Name : </a:t>
            </a:r>
            <a:r>
              <a:rPr lang="en-US" sz="1200" b="1" dirty="0" err="1" smtClean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Rakhi</a:t>
            </a:r>
            <a:r>
              <a:rPr lang="en-US" sz="1200" b="1" dirty="0" smtClean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 </a:t>
            </a:r>
            <a:r>
              <a:rPr lang="en-US" sz="1200" b="1" dirty="0" err="1" smtClean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Jha</a:t>
            </a:r>
            <a:r>
              <a:rPr lang="en-US" sz="1200" b="1" dirty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 </a:t>
            </a:r>
            <a:endParaRPr lang="en-US" sz="1200" b="1" dirty="0" smtClean="0">
              <a:solidFill>
                <a:srgbClr val="FFFFFF"/>
              </a:solidFill>
              <a:latin typeface="Times New Roman" pitchFamily="18" charset="0"/>
              <a:ea typeface="Calibri" pitchFamily="34" charset="-122"/>
              <a:cs typeface="Times New Roman" pitchFamily="18" charset="0"/>
            </a:endParaRPr>
          </a:p>
          <a:p>
            <a:r>
              <a:rPr lang="en-US" sz="1200" b="1" dirty="0" smtClean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 </a:t>
            </a:r>
            <a:r>
              <a:rPr lang="en-US" sz="1200" b="1" dirty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Seat No : </a:t>
            </a:r>
            <a:r>
              <a:rPr lang="en-US" sz="1200" b="1" dirty="0" smtClean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5105150840</a:t>
            </a:r>
            <a:endParaRPr lang="en-US" sz="1200" b="1" dirty="0" smtClean="0">
              <a:solidFill>
                <a:srgbClr val="FFFFFF"/>
              </a:solidFill>
              <a:latin typeface="Times New Roman" pitchFamily="18" charset="0"/>
              <a:ea typeface="Calibri" pitchFamily="34" charset="-122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200" b="1" dirty="0" err="1" smtClean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B.Sc.Computer</a:t>
            </a:r>
            <a:r>
              <a:rPr lang="en-US" sz="1200" b="1" dirty="0" smtClean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 Science | </a:t>
            </a:r>
            <a:r>
              <a:rPr lang="en-US" sz="1200" b="1" dirty="0" err="1" smtClean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Theem</a:t>
            </a:r>
            <a:r>
              <a:rPr lang="en-US" sz="1200" b="1" dirty="0" smtClean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 College of </a:t>
            </a:r>
            <a:r>
              <a:rPr lang="en-US" sz="1200" b="1" err="1" smtClean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Arts</a:t>
            </a:r>
            <a:r>
              <a:rPr lang="en-US" sz="1200" b="1" smtClean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, Commerce </a:t>
            </a:r>
            <a:r>
              <a:rPr lang="en-US" sz="1200" b="1" dirty="0" smtClean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and Science</a:t>
            </a:r>
          </a:p>
          <a:p>
            <a:pPr marL="0" indent="0">
              <a:buNone/>
            </a:pPr>
            <a:r>
              <a:rPr lang="en-US" sz="1200" b="1" dirty="0" smtClean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Project Guide: Prof. Sabina </a:t>
            </a:r>
            <a:r>
              <a:rPr lang="en-US" sz="1200" b="1" dirty="0" err="1" smtClean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Pathan</a:t>
            </a:r>
            <a:r>
              <a:rPr lang="en-US" sz="1200" b="1" dirty="0" smtClean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 | Academic Year : 2026-2027</a:t>
            </a:r>
            <a:endParaRPr lang="en-US" sz="1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208920" y="47777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143000"/>
            <a:ext cx="56692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day, food is bought, cooked and then thrown away in our homes, often without a second thought.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Households are the biggest source of food waste, ahead of restaurants and retail shops.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Wasted food also wastes the water, land, fuel, labour and money used to grow, transport and cook it.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rotting in landfills produces methane, a greenhouse gas that adds to climate change.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Sustainable Development Goal 12.3 aims to halve per capita food waste at retail and consumer level by 2030.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studies the problem in our community and tries to spread simple habits that reduce it.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492240" y="1143000"/>
            <a:ext cx="2194560" cy="3429000"/>
          </a:xfrm>
          <a:prstGeom prst="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223760" y="1325880"/>
            <a:ext cx="731520" cy="731520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50876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583680" y="21031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kitchens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7223760" y="2468880"/>
            <a:ext cx="731520" cy="731520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0" y="265176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583680" y="32461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bin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7223760" y="3611880"/>
            <a:ext cx="731520" cy="731520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40" y="379476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583680" y="43891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global issue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Definitions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02700" y="4663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3977640" cy="1600200"/>
          </a:xfrm>
          <a:prstGeom prst="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43000"/>
            <a:ext cx="73152" cy="160020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Loss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160020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lost early in the supply chain, from harvest up to (but not including) retail. Causes: poor storage, transport and handling.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709160" y="1143000"/>
            <a:ext cx="3977640" cy="1600200"/>
          </a:xfrm>
          <a:prstGeom prst="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143000"/>
            <a:ext cx="73152" cy="160020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910328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Waste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910328" y="160020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and its inedible parts removed from the supply chain at retail, food service and household level (UNEP definition).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3977640" cy="1600200"/>
          </a:xfrm>
          <a:prstGeom prst="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926080"/>
            <a:ext cx="73152" cy="160020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368" y="3017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Food Waste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" y="338328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thrown away from home kitchens: leftovers, spoiled groceries, peels and expired packaged items.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709160" y="2926080"/>
            <a:ext cx="3977640" cy="1600200"/>
          </a:xfrm>
          <a:prstGeom prst="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2926080"/>
            <a:ext cx="73152" cy="1600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910328" y="3017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Avoidable vs Unavoidable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910328" y="338328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Avoidable: edible food that could have been eaten. Unavoidable: bones, peels and shells that are not normally eaten.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of the Project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143000"/>
            <a:ext cx="56692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understand how much food households waste and why.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study the environmental, economic and social effects of food waste.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survey households in our community about their food habits.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create awareness through posters, a talk and a leftover-recipe demo.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suggest practical, low-cost methods for reducing waste at home.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develop teamwork and community-service skills as students.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92240" y="1143000"/>
            <a:ext cx="2194560" cy="3429000"/>
          </a:xfrm>
          <a:prstGeom prst="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223760" y="1325880"/>
            <a:ext cx="731520" cy="731520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50876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6583680" y="21031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223760" y="2468880"/>
            <a:ext cx="731520" cy="731520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0" y="265176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583680" y="32461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awareness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7223760" y="3611880"/>
            <a:ext cx="731520" cy="731520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40" y="379476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583680" y="43891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Farm to Fork: Where Food Gets Wasted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868680" y="1188720"/>
            <a:ext cx="914400" cy="914400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41732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57200" y="21945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254203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Harvest losses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1828800" y="13716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000" dirty="0"/>
          </a:p>
        </p:txBody>
      </p:sp>
      <p:sp>
        <p:nvSpPr>
          <p:cNvPr id="13" name="Shape 9"/>
          <p:cNvSpPr/>
          <p:nvPr/>
        </p:nvSpPr>
        <p:spPr>
          <a:xfrm>
            <a:off x="2560320" y="1188720"/>
            <a:ext cx="914400" cy="914400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8920" y="141732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2148840" y="21945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2148840" y="254203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Spoilage, handling</a:t>
            </a:r>
            <a:endParaRPr lang="en-US" sz="1250" dirty="0"/>
          </a:p>
        </p:txBody>
      </p:sp>
      <p:sp>
        <p:nvSpPr>
          <p:cNvPr id="17" name="Text 12"/>
          <p:cNvSpPr txBox="1"/>
          <p:nvPr/>
        </p:nvSpPr>
        <p:spPr>
          <a:xfrm>
            <a:off x="3520440" y="13716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000" dirty="0"/>
          </a:p>
        </p:txBody>
      </p:sp>
      <p:sp>
        <p:nvSpPr>
          <p:cNvPr id="18" name="Shape 13"/>
          <p:cNvSpPr/>
          <p:nvPr/>
        </p:nvSpPr>
        <p:spPr>
          <a:xfrm>
            <a:off x="4251960" y="1188720"/>
            <a:ext cx="914400" cy="914400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0560" y="1417320"/>
            <a:ext cx="457200" cy="45720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3840480" y="21945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3840480" y="254203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Unsold, damaged</a:t>
            </a:r>
            <a:endParaRPr lang="en-US" sz="1250" dirty="0"/>
          </a:p>
        </p:txBody>
      </p:sp>
      <p:sp>
        <p:nvSpPr>
          <p:cNvPr id="22" name="Text 16"/>
          <p:cNvSpPr txBox="1"/>
          <p:nvPr/>
        </p:nvSpPr>
        <p:spPr>
          <a:xfrm>
            <a:off x="5212080" y="13716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000" dirty="0"/>
          </a:p>
        </p:txBody>
      </p:sp>
      <p:sp>
        <p:nvSpPr>
          <p:cNvPr id="23" name="Shape 17"/>
          <p:cNvSpPr/>
          <p:nvPr/>
        </p:nvSpPr>
        <p:spPr>
          <a:xfrm>
            <a:off x="5943600" y="1188720"/>
            <a:ext cx="914400" cy="914400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1417320"/>
            <a:ext cx="457200" cy="45720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532120" y="21945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Kitchen</a:t>
            </a:r>
            <a:endParaRPr lang="en-US" sz="1500" dirty="0"/>
          </a:p>
        </p:txBody>
      </p:sp>
      <p:sp>
        <p:nvSpPr>
          <p:cNvPr id="26" name="Text 19"/>
          <p:cNvSpPr txBox="1"/>
          <p:nvPr/>
        </p:nvSpPr>
        <p:spPr>
          <a:xfrm>
            <a:off x="5532120" y="254203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source</a:t>
            </a:r>
            <a:endParaRPr lang="en-US" sz="1250" dirty="0"/>
          </a:p>
        </p:txBody>
      </p:sp>
      <p:sp>
        <p:nvSpPr>
          <p:cNvPr id="27" name="Text 20"/>
          <p:cNvSpPr txBox="1"/>
          <p:nvPr/>
        </p:nvSpPr>
        <p:spPr>
          <a:xfrm>
            <a:off x="6903720" y="13716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000" dirty="0"/>
          </a:p>
        </p:txBody>
      </p:sp>
      <p:sp>
        <p:nvSpPr>
          <p:cNvPr id="28" name="Shape 21"/>
          <p:cNvSpPr/>
          <p:nvPr/>
        </p:nvSpPr>
        <p:spPr>
          <a:xfrm>
            <a:off x="7635240" y="1188720"/>
            <a:ext cx="914400" cy="914400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63840" y="1417320"/>
            <a:ext cx="457200" cy="457200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7223760" y="21945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</a:t>
            </a:r>
            <a:endParaRPr lang="en-US" sz="1500" dirty="0"/>
          </a:p>
        </p:txBody>
      </p:sp>
      <p:sp>
        <p:nvSpPr>
          <p:cNvPr id="31" name="Text 23"/>
          <p:cNvSpPr txBox="1"/>
          <p:nvPr/>
        </p:nvSpPr>
        <p:spPr>
          <a:xfrm>
            <a:off x="7223760" y="254203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Ends in landfill</a:t>
            </a:r>
            <a:endParaRPr lang="en-US" sz="1250" dirty="0"/>
          </a:p>
        </p:txBody>
      </p:sp>
      <p:sp>
        <p:nvSpPr>
          <p:cNvPr id="32" name="Shape 24"/>
          <p:cNvSpPr/>
          <p:nvPr/>
        </p:nvSpPr>
        <p:spPr>
          <a:xfrm>
            <a:off x="457200" y="3154680"/>
            <a:ext cx="8229600" cy="1234440"/>
          </a:xfrm>
          <a:prstGeom prst="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33" name="Text 25"/>
          <p:cNvSpPr txBox="1"/>
          <p:nvPr/>
        </p:nvSpPr>
        <p:spPr>
          <a:xfrm>
            <a:off x="731520" y="3246120"/>
            <a:ext cx="7680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Households alone account for about 60% of the food waste measured by UNEP. So even small changes in our own kitchens matter more than we think.</a:t>
            </a:r>
            <a:endParaRPr lang="en-US" sz="1600" dirty="0"/>
          </a:p>
        </p:txBody>
      </p:sp>
      <p:sp>
        <p:nvSpPr>
          <p:cNvPr id="34" name="Text 26"/>
          <p:cNvSpPr txBox="1"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Food Waste: Country Comparison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457200" y="1051560"/>
          <a:ext cx="822960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Waste Hierarchy: What to Do with Food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299753" y="46007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1143000"/>
            <a:ext cx="4206240" cy="585216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4360" y="1143000"/>
            <a:ext cx="4023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Prevent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4937760" y="1143000"/>
            <a:ext cx="3749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and cook only what is needed; store well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57200" y="1819656"/>
            <a:ext cx="3703320" cy="585216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94360" y="1819656"/>
            <a:ext cx="3520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Feed people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4937760" y="1819656"/>
            <a:ext cx="3749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extra food with neighbours, food banks and NGOs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457200" y="2496312"/>
            <a:ext cx="3200400" cy="585216"/>
          </a:xfrm>
          <a:prstGeom prst="rect">
            <a:avLst/>
          </a:prstGeom>
          <a:solidFill>
            <a:srgbClr val="9CCC65"/>
          </a:solidFill>
          <a:ln w="12700">
            <a:solidFill>
              <a:srgbClr val="9CCC6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94360" y="2496312"/>
            <a:ext cx="3017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Feed animals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4937760" y="2496312"/>
            <a:ext cx="3749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safe leftovers and scraps to animals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457200" y="3172968"/>
            <a:ext cx="2697480" cy="585216"/>
          </a:xfrm>
          <a:prstGeom prst="rect">
            <a:avLst/>
          </a:prstGeom>
          <a:solidFill>
            <a:srgbClr val="FBC02D"/>
          </a:solidFill>
          <a:ln w="12700">
            <a:solidFill>
              <a:srgbClr val="FBC02D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94360" y="3172968"/>
            <a:ext cx="2514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Compost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4937760" y="3172968"/>
            <a:ext cx="3749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peels and scraps into manure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457200" y="3849624"/>
            <a:ext cx="2194560" cy="585216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94360" y="3849624"/>
            <a:ext cx="2011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Landfill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4937760" y="3849624"/>
            <a:ext cx="3749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option: wastes resources and creates methane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of Food Waste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2651760" cy="3337560"/>
          </a:xfrm>
          <a:prstGeom prst="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43000"/>
            <a:ext cx="73152" cy="333756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" y="12344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1600200"/>
            <a:ext cx="233172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loss and waste is linked to about 8-10% of global greenhouse gas emissions (UNEP). Landfill food releases methane. Water, land and fuel used to grow it are wasted.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46120" y="1143000"/>
            <a:ext cx="2651760" cy="3337560"/>
          </a:xfrm>
          <a:prstGeom prst="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143000"/>
            <a:ext cx="73152" cy="333756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47288" y="12344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447288" y="1600200"/>
            <a:ext cx="233172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Families lose money on food they never eat. UNEP estimates the global cost of wasted food at around US$1 trillion a year. Disposal costs the community too.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035040" y="1143000"/>
            <a:ext cx="2651760" cy="3337560"/>
          </a:xfrm>
          <a:prstGeom prst="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35040" y="1143000"/>
            <a:ext cx="73152" cy="333756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36208" y="12344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236208" y="1600200"/>
            <a:ext cx="233172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Edible food is thrown away while hundreds of millions of people lack enough to eat. Waste also reflects poor values of sharing and respect for food.</a:t>
            </a:r>
            <a:endParaRPr lang="en-US" sz="1250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1760" y="1207008"/>
            <a:ext cx="365760" cy="365760"/>
          </a:xfrm>
          <a:prstGeom prst="rect">
            <a:avLst/>
          </a:prstGeom>
        </p:spPr>
      </p:pic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0680" y="1207008"/>
            <a:ext cx="365760" cy="365760"/>
          </a:xfrm>
          <a:prstGeom prst="rect">
            <a:avLst/>
          </a:prstGeom>
        </p:spPr>
      </p:pic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1207008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Ways to Reduce Food Waste at Home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328416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Practice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to do 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Benefit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 and list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 weekly meals, check the fridge, then make a shopping list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 over-buying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 smartly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airtight boxes; keep greens dry; follow FIFO (first in, first out)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Longer freshness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Right portions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Cook for the number of people; serve small and take second helpings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 plate waste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Reuse leftovers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Turn leftover rice or roti into fried rice, upma or roti rolls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Saves money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Preserve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Freeze, dry or pickle surplus vegetables and fruit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Uses surplus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Compost / share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Compost peels and scraps; give extra food to neighbours or food banks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Feeds people, cuts landfill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Questionnaire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143000"/>
            <a:ext cx="56692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people live in your household?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 do you throw away cooked food? (daily / weekly / rarely / never)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food is wasted most? (rice, roti, vegetables, fruit, other)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main reason for wasting food?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 plan meals or make a shopping list before buying?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 know the difference between "best before" and "use by"?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 reuse leftovers, compost or share extra food?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you like tips to reduce food waste at home?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492240" y="1143000"/>
            <a:ext cx="2194560" cy="3429000"/>
          </a:xfrm>
          <a:prstGeom prst="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223760" y="1325880"/>
            <a:ext cx="731520" cy="731520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50876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583680" y="21031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Questionnaire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7223760" y="2468880"/>
            <a:ext cx="731520" cy="731520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0" y="265176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583680" y="32461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habits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7223760" y="3611880"/>
            <a:ext cx="731520" cy="731520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40" y="379476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583680" y="43891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answers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Awareness Activity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051560" y="1188720"/>
            <a:ext cx="731520" cy="731520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1371600"/>
            <a:ext cx="365760" cy="3657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57200" y="21031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51460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Visited households and collected responses with the questionnaire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3154680" y="1188720"/>
            <a:ext cx="731520" cy="731520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137160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560320" y="21031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 and Talk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2560320" y="251460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Showed posters and explained causes, impact and simple tips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5257800" y="1188720"/>
            <a:ext cx="731520" cy="731520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0680" y="137160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663440" y="21031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 Demo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4663440" y="251460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Showed how leftover rice and roti can become new dishes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7360920" y="1188720"/>
            <a:ext cx="731520" cy="731520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3800" y="137160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766560" y="21031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Pledge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6766560" y="251460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Families pledged to plan meals, store well and share extra food</a:t>
            </a:r>
            <a:endParaRPr lang="en-US" sz="1350" dirty="0"/>
          </a:p>
        </p:txBody>
      </p:sp>
      <p:sp>
        <p:nvSpPr>
          <p:cNvPr id="23" name="Text 17"/>
          <p:cNvSpPr txBox="1"/>
          <p:nvPr/>
        </p:nvSpPr>
        <p:spPr>
          <a:xfrm>
            <a:off x="365760" y="4069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143000"/>
            <a:ext cx="56692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Households: plan meals, store properly, cook right portions and reuse leftovers.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Housing societies: start community composting and a "share extra food" fridge or group.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Schools and colleges: run regular awareness drives and cut mess and canteen waste.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bodies: support segregation of wet waste and food-donation networks.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Everyone: value food, and teach children not to waste it.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92240" y="1143000"/>
            <a:ext cx="2194560" cy="3429000"/>
          </a:xfrm>
          <a:prstGeom prst="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223760" y="1325880"/>
            <a:ext cx="731520" cy="731520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50876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6583680" y="21031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223760" y="2468880"/>
            <a:ext cx="731520" cy="731520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0" y="265176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583680" y="32461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Societies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7223760" y="3611880"/>
            <a:ext cx="731520" cy="731520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40" y="379476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583680" y="43891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Colleges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5720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143000"/>
            <a:ext cx="56692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food waste happens in homes, so the solution begins at home.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Over-buying, over-cooking and poor storage are the main causes we found.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habits cut waste, save money and protect the environment.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awareness turns individual effort into lasting change.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Reducing food waste supports SDG 12 (responsible consumption) and SDG 2 (zero hunger).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92240" y="1143000"/>
            <a:ext cx="2194560" cy="3429000"/>
          </a:xfrm>
          <a:prstGeom prst="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223760" y="1325880"/>
            <a:ext cx="731520" cy="731520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50876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6583680" y="21031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at home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223760" y="2468880"/>
            <a:ext cx="731520" cy="731520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0" y="265176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583680" y="32461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nature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7223760" y="3611880"/>
            <a:ext cx="731520" cy="731520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40" y="379476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583680" y="43891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 food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143000"/>
            <a:ext cx="80467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UNEP and WRAP (2024). Food Waste Index Report 2024. United Nations Environment Programme.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 India (2024). Analysis of India's household food waste based on the UNEP Food Waste Index Report 2024.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FAO (2011). Global Food Losses and Food Waste. Food and Agriculture Organization of the UN.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Nations. Sustainable Development Goal 12, Target 12.3.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Environmental Protection Agency. Food Recovery Hierarchy.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own community survey data (primary data).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14630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Shape 1"/>
          <p:cNvSpPr/>
          <p:nvPr/>
        </p:nvSpPr>
        <p:spPr>
          <a:xfrm>
            <a:off x="4023360" y="2560320"/>
            <a:ext cx="1097280" cy="6400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28346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1244</Words>
  <Application>Microsoft Office PowerPoint</Application>
  <PresentationFormat>On-screen Show (16:9)</PresentationFormat>
  <Paragraphs>176</Paragraphs>
  <Slides>15</Slides>
  <Notes>15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Food Waste Reduction in Households</dc:title>
  <dc:subject>PptxGenJS Presentation</dc:subject>
  <dc:creator>PptxGenJS</dc:creator>
  <cp:lastModifiedBy>ankit</cp:lastModifiedBy>
  <cp:revision>5</cp:revision>
  <dcterms:created xsi:type="dcterms:W3CDTF">2026-10-26T14:43:37Z</dcterms:created>
  <dcterms:modified xsi:type="dcterms:W3CDTF">2026-10-26T18:38:28Z</dcterms:modified>
</cp:coreProperties>
</file>